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矩阵与行列式：线性代数的基石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1：矩阵——数字的秩序之美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常见矩阵类型：你的‘工具箱’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✅ 方阵：行=列（n×n），行列式/特征值的基础</a:t>
            </a:r>
          </a:p>
          <a:p>
            <a:pPr>
              <a:defRPr sz="1800"/>
            </a:pPr>
            <a:r>
              <a:t>✅ 零矩阵 O：全0，满足 A+O=A</a:t>
            </a:r>
          </a:p>
          <a:p>
            <a:pPr>
              <a:defRPr sz="1800"/>
            </a:pPr>
            <a:r>
              <a:t>✅ 单位矩阵 Iₙ：对角线为1，满足 AI=IA=A</a:t>
            </a:r>
          </a:p>
          <a:p>
            <a:pPr>
              <a:defRPr sz="1800"/>
            </a:pPr>
            <a:r>
              <a:t>⚠️ 注意：I₂ 和 I₃ 形状不同，不可混用！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2：运算规则——小心‘陷阱’！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矩阵乘法：不只是计算，是‘复合变换’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cᵢⱼ = 第i行 • 第j列 = Σₖ aᵢₖ bₖⱼ</a:t>
            </a:r>
          </a:p>
          <a:p>
            <a:pPr>
              <a:defRPr sz="1800"/>
            </a:pPr>
            <a:r>
              <a:t>反例：A=[[1,2],[0,1]], B=[[0,1],[1,0]] → AB ≠ BA</a:t>
            </a:r>
          </a:p>
          <a:p>
            <a:pPr>
              <a:defRPr sz="1800"/>
            </a:pPr>
            <a:r>
              <a:t>几何意义：AB 表示‘先B后A’的叠加效果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3：行列式——空间的‘呼吸感’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二阶 &amp; 三阶行列式：计算与展开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二阶：det = ad − bc（对角线法则）</a:t>
            </a:r>
          </a:p>
          <a:p>
            <a:pPr>
              <a:defRPr sz="1800"/>
            </a:pPr>
            <a:r>
              <a:t>三阶：对角线法则 或 按行展开 → det = Σⱼ a₁ⱼC₁ⱼ</a:t>
            </a:r>
          </a:p>
          <a:p>
            <a:pPr>
              <a:defRPr sz="1800"/>
            </a:pPr>
            <a:r>
              <a:t>余子式 Mᵢⱼ：删i行j列 → 子阵行列式</a:t>
            </a:r>
          </a:p>
          <a:p>
            <a:pPr>
              <a:defRPr sz="1800"/>
            </a:pPr>
            <a:r>
              <a:t>代数余子式 Cᵢⱼ = (−1)ⁱ⁺ʲ Mᵢⱼ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行列式与可逆性：生死线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定理：A可逆 ⇔ det(A) ≠ 0</a:t>
            </a:r>
          </a:p>
          <a:p>
            <a:pPr>
              <a:defRPr sz="1800"/>
            </a:pPr>
            <a:r>
              <a:t>det=0 ⇒ 列（或行）线性相关 ⇒ 空间坍缩 ⇒ 信息丢失</a:t>
            </a:r>
          </a:p>
          <a:p>
            <a:pPr>
              <a:defRPr sz="1800"/>
            </a:pPr>
            <a:r>
              <a:t>应用：快速筛选可逆矩阵（免去求逆的繁复）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可逆性侦探社（小组任务）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任务：判断下列矩阵是否可逆？若含参数，求范围。</a:t>
            </a:r>
          </a:p>
          <a:p>
            <a:pPr>
              <a:defRPr sz="1800"/>
            </a:pPr>
            <a:r>
              <a:t>Matrix 1: diag(1,2,3) → ✔</a:t>
            </a:r>
          </a:p>
          <a:p>
            <a:pPr>
              <a:defRPr sz="1800"/>
            </a:pPr>
            <a:r>
              <a:t>Matrix 2: [[1,2,3],[4,5,6],[7,8,9]] → ✘（R3=R1+R2）</a:t>
            </a:r>
          </a:p>
          <a:p>
            <a:pPr>
              <a:defRPr sz="1800"/>
            </a:pPr>
            <a:r>
              <a:t>Matrix 3: [[1,1,0],[0,1,1],[k,0,1]] → det=1−k, ∴ k≠1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本课核心图谱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矩阵 = 结构化数据容器 → 分类（方阵/零/单位）</a:t>
            </a:r>
          </a:p>
          <a:p>
            <a:pPr>
              <a:defRPr sz="1800"/>
            </a:pPr>
            <a:r>
              <a:t>运算 = 规则森林 → 乘法非交换，转置逆序</a:t>
            </a:r>
          </a:p>
          <a:p>
            <a:pPr>
              <a:defRPr sz="1800"/>
            </a:pPr>
            <a:r>
              <a:t>行列式 = 空间DNA → 几何缩放+定向，det≠0↔可逆</a:t>
            </a:r>
          </a:p>
          <a:p>
            <a:pPr>
              <a:defRPr sz="1800"/>
            </a:pPr>
            <a:r>
              <a:t>能力树：计算 → 理解 → 应用（方程组）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下节预告：逆矩阵的诞生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如何由A直接写出A⁻¹？→ 伴随矩阵 adj(A) = [Cⱼᵢ]ᵀ</a:t>
            </a:r>
          </a:p>
          <a:p>
            <a:pPr>
              <a:defRPr sz="1800"/>
            </a:pPr>
            <a:r>
              <a:t>公式：A⁻¹ = (1/det A) · adj(A)</a:t>
            </a:r>
          </a:p>
          <a:p>
            <a:pPr>
              <a:defRPr sz="1800"/>
            </a:pPr>
            <a:r>
              <a:t>为什么高斯消元更高效？→ 计算复杂度对比</a:t>
            </a:r>
          </a:p>
          <a:p>
            <a:pPr>
              <a:defRPr sz="1800"/>
            </a:pPr>
            <a:r>
              <a:t>课前思考：若A²=0，A是否一定为零矩阵？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· 反馈墙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❓ 你最大的一个疑问？</a:t>
            </a:r>
          </a:p>
          <a:p>
            <a:pPr>
              <a:defRPr sz="1800"/>
            </a:pPr>
            <a:r>
              <a:t>💡 今天点亮的一个认知？</a:t>
            </a:r>
          </a:p>
          <a:p>
            <a:pPr>
              <a:defRPr sz="1800"/>
            </a:pPr>
            <a:r>
              <a:t>📝 课后作业：详见学习单（含证明题+应用题）</a:t>
            </a:r>
          </a:p>
          <a:p>
            <a:pPr>
              <a:defRPr sz="1800"/>
            </a:pPr>
            <a:r>
              <a:t>🔗 扩展资源：GeoGebra矩阵变换模拟器链接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