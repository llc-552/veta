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揭秘生命之源：光合作用的原理与意义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一、从现象到本质：什么是光合作用？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总反应式：生命的化学签名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6CO₂ + 6H₂O → C₆H₁₂O₆ + 6O₂</a:t>
            </a:r>
          </a:p>
          <a:p>
            <a:pPr>
              <a:defRPr sz="1800"/>
            </a:pPr>
            <a:r>
              <a:t>条件标注：↑ 光能 | ↓ 叶绿体</a:t>
            </a:r>
          </a:p>
          <a:p>
            <a:pPr>
              <a:defRPr sz="1800"/>
            </a:pPr>
            <a:r>
              <a:t>关键发现：O₂全部来自H₂O（¹⁸O标记实验）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叶绿体：精密的光能工厂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类囊体膜：光反应‘发电车间’（含光合色素、电子传递链）</a:t>
            </a:r>
          </a:p>
          <a:p>
            <a:pPr>
              <a:defRPr sz="1800"/>
            </a:pPr>
            <a:r>
              <a:t>基质：碳反应‘生产车间’（含卡尔文循环酶系）</a:t>
            </a:r>
          </a:p>
          <a:p>
            <a:pPr>
              <a:defRPr sz="1800"/>
            </a:pPr>
            <a:r>
              <a:t>结构决定功能：膜面积最大化→高效捕光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光反应：光能→活跃化学能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场所：类囊体膜</a:t>
            </a:r>
          </a:p>
          <a:p>
            <a:pPr>
              <a:defRPr sz="1800"/>
            </a:pPr>
            <a:r>
              <a:t>关键事件：H₂O光解 → O₂↑ + H⁺ + e⁻</a:t>
            </a:r>
          </a:p>
          <a:p>
            <a:pPr>
              <a:defRPr sz="1800"/>
            </a:pPr>
            <a:r>
              <a:t>产物：ATP、NADPH、O₂</a:t>
            </a:r>
          </a:p>
          <a:p>
            <a:pPr>
              <a:defRPr sz="1800"/>
            </a:pPr>
            <a:r>
              <a:t>能量转换：光能 → 化学能（ATP/NADPH）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碳反应（卡尔文循环）：活跃能→稳定能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场所：叶绿体基质</a:t>
            </a:r>
          </a:p>
          <a:p>
            <a:pPr>
              <a:defRPr sz="1800"/>
            </a:pPr>
            <a:r>
              <a:t>三步核心：CO₂固定 → 3-PGA还原 → RuBP再生</a:t>
            </a:r>
          </a:p>
          <a:p>
            <a:pPr>
              <a:defRPr sz="1800"/>
            </a:pPr>
            <a:r>
              <a:t>关键产物：G3P（→葡萄糖/淀粉/氨基酸）</a:t>
            </a:r>
          </a:p>
          <a:p>
            <a:pPr>
              <a:defRPr sz="1800"/>
            </a:pPr>
            <a:r>
              <a:t>能量消耗：ATP &amp; NADPH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二、光合作用：地球生命的支持系统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农业智慧：向光合作用要产量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设施农业：LED补光（红蓝光最佳）、CO₂施肥</a:t>
            </a:r>
          </a:p>
          <a:p>
            <a:pPr>
              <a:defRPr sz="1800"/>
            </a:pPr>
            <a:r>
              <a:t>作物育种：选育高光效C₄植物（玉米、甘蔗）</a:t>
            </a:r>
          </a:p>
          <a:p>
            <a:pPr>
              <a:defRPr sz="1800"/>
            </a:pPr>
            <a:r>
              <a:t>栽培管理：合理密植、间作套种最大化光能利用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气候行动：绿色方案的力量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森林是‘负排放技术’：1公顷阔叶林≈10辆汽车年碳排</a:t>
            </a:r>
          </a:p>
          <a:p>
            <a:pPr>
              <a:defRPr sz="1800"/>
            </a:pPr>
            <a:r>
              <a:t>‘基于自然的解决方案’（NbS）：占IPCC减排路径30%</a:t>
            </a:r>
          </a:p>
          <a:p>
            <a:pPr>
              <a:defRPr sz="1800"/>
            </a:pPr>
            <a:r>
              <a:t>中国‘双碳’目标：森林蓄积量2030年达190亿m³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光合拼图挑战！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任务：8张卡片排序，构建完整光合流程</a:t>
            </a:r>
          </a:p>
          <a:p>
            <a:pPr>
              <a:defRPr sz="1800"/>
            </a:pPr>
            <a:r>
              <a:t>要求：标注场所+能量变化+关键物质</a:t>
            </a:r>
          </a:p>
          <a:p>
            <a:pPr>
              <a:defRPr sz="1800"/>
            </a:pPr>
            <a:r>
              <a:t>时间：3分钟！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情境思辨快问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Q1：阴雨天水稻减产，主要限制哪一阶段？</a:t>
            </a:r>
          </a:p>
          <a:p>
            <a:pPr>
              <a:defRPr sz="1800"/>
            </a:pPr>
            <a:r>
              <a:t>Q2：为何C₄植物更耐旱高温？</a:t>
            </a:r>
          </a:p>
          <a:p>
            <a:pPr>
              <a:defRPr sz="1800"/>
            </a:pPr>
            <a:r>
              <a:t>Q3：城市屋顶绿化对缓解热岛效应有何作用？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结语：在光中看见生命，在叶中读懂地球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光合作用 = 定义 × 场所 × 条件 × 方程式 × 两阶段 × 生态意义</a:t>
            </a:r>
          </a:p>
          <a:p>
            <a:pPr>
              <a:defRPr sz="1800"/>
            </a:pPr>
            <a:r>
              <a:t>它是分子生物学的杰作，更是生态文明的基石</a:t>
            </a:r>
          </a:p>
          <a:p>
            <a:pPr>
              <a:defRPr sz="1800"/>
            </a:pPr>
            <a:r>
              <a:t>下节预告：光合速率的影响因素——光强、CO₂、温度、水分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